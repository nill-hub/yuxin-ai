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5989320" y="137160"/>
            <a:ext cx="3017520" cy="3017520"/>
          </a:xfrm>
          <a:prstGeom prst="ellipse">
            <a:avLst/>
          </a:prstGeom>
          <a:solidFill>
            <a:srgbClr val="22D3EE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37160" y="3401568"/>
            <a:ext cx="1554480" cy="1554480"/>
          </a:xfrm>
          <a:prstGeom prst="ellipse">
            <a:avLst/>
          </a:prstGeom>
          <a:solidFill>
            <a:srgbClr val="818CF8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26680" y="3474720"/>
            <a:ext cx="1188720" cy="1188720"/>
          </a:xfrm>
          <a:prstGeom prst="ellipse">
            <a:avLst/>
          </a:prstGeom>
          <a:solidFill>
            <a:srgbClr val="F472B6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365760"/>
            <a:ext cx="27432" cy="27432"/>
          </a:xfrm>
          <a:prstGeom prst="ellipse">
            <a:avLst/>
          </a:prstGeom>
          <a:solidFill>
            <a:srgbClr val="22D3EE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48056" y="365760"/>
            <a:ext cx="27432" cy="27432"/>
          </a:xfrm>
          <a:prstGeom prst="ellipse">
            <a:avLst/>
          </a:prstGeom>
          <a:solidFill>
            <a:srgbClr val="22D3EE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76072" y="365760"/>
            <a:ext cx="27432" cy="27432"/>
          </a:xfrm>
          <a:prstGeom prst="ellipse">
            <a:avLst/>
          </a:prstGeom>
          <a:solidFill>
            <a:srgbClr val="22D3EE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04088" y="365760"/>
            <a:ext cx="27432" cy="27432"/>
          </a:xfrm>
          <a:prstGeom prst="ellipse">
            <a:avLst/>
          </a:prstGeom>
          <a:solidFill>
            <a:srgbClr val="22D3EE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32104" y="365760"/>
            <a:ext cx="27432" cy="27432"/>
          </a:xfrm>
          <a:prstGeom prst="ellipse">
            <a:avLst/>
          </a:prstGeom>
          <a:solidFill>
            <a:srgbClr val="22D3EE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365760"/>
            <a:ext cx="27432" cy="27432"/>
          </a:xfrm>
          <a:prstGeom prst="ellipse">
            <a:avLst/>
          </a:prstGeom>
          <a:solidFill>
            <a:srgbClr val="22D3EE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" y="365760"/>
            <a:ext cx="27432" cy="27432"/>
          </a:xfrm>
          <a:prstGeom prst="ellipse">
            <a:avLst/>
          </a:prstGeom>
          <a:solidFill>
            <a:srgbClr val="22D3EE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216152" y="365760"/>
            <a:ext cx="27432" cy="27432"/>
          </a:xfrm>
          <a:prstGeom prst="ellipse">
            <a:avLst/>
          </a:prstGeom>
          <a:solidFill>
            <a:srgbClr val="22D3EE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344168" y="365760"/>
            <a:ext cx="27432" cy="27432"/>
          </a:xfrm>
          <a:prstGeom prst="ellipse">
            <a:avLst/>
          </a:prstGeom>
          <a:solidFill>
            <a:srgbClr val="22D3EE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472184" y="365760"/>
            <a:ext cx="27432" cy="27432"/>
          </a:xfrm>
          <a:prstGeom prst="ellipse">
            <a:avLst/>
          </a:prstGeom>
          <a:solidFill>
            <a:srgbClr val="22D3EE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6692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YUXIN AI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89611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钰心AI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" y="1737360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600" b="1" spc="1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面向合伙人的线上生态赋能系统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22960" y="2578608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万物智联的入口 · AI 助理「小钰」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22960" y="3310128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一个人跑断腿也帮不了几个人，但「小钰」可以：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解决电脑上 90% 的问题、搞定工作上的痛点、破解流量获取的难题——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只要说话或打字，它就能替你干活、替你赚钱。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22960" y="4279392"/>
            <a:ext cx="1481328" cy="384048"/>
          </a:xfrm>
          <a:prstGeom prst="roundRect">
            <a:avLst>
              <a:gd name="adj" fmla="val 47619"/>
            </a:avLst>
          </a:prstGeom>
          <a:solidFill>
            <a:srgbClr val="131C33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334256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E6EC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说话就干活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395728" y="4279392"/>
            <a:ext cx="1481328" cy="384048"/>
          </a:xfrm>
          <a:prstGeom prst="roundRect">
            <a:avLst>
              <a:gd name="adj" fmla="val 47619"/>
            </a:avLst>
          </a:prstGeom>
          <a:solidFill>
            <a:srgbClr val="131C33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95728" y="4334256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E6EC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知识库存素材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968496" y="4279392"/>
            <a:ext cx="1481328" cy="384048"/>
          </a:xfrm>
          <a:prstGeom prst="roundRect">
            <a:avLst>
              <a:gd name="adj" fmla="val 47619"/>
            </a:avLst>
          </a:prstGeom>
          <a:solidFill>
            <a:srgbClr val="131C33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68496" y="4334256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E6EC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回收站快照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541264" y="4279392"/>
            <a:ext cx="1481328" cy="384048"/>
          </a:xfrm>
          <a:prstGeom prst="roundRect">
            <a:avLst>
              <a:gd name="adj" fmla="val 47619"/>
            </a:avLst>
          </a:prstGeom>
          <a:solidFill>
            <a:srgbClr val="131C33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41264" y="4334256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E6EC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合伙人分身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114032" y="4279392"/>
            <a:ext cx="1481328" cy="384048"/>
          </a:xfrm>
          <a:prstGeom prst="roundRect">
            <a:avLst>
              <a:gd name="adj" fmla="val 47619"/>
            </a:avLst>
          </a:prstGeom>
          <a:solidFill>
            <a:srgbClr val="131C33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14032" y="4334256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E6EC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分销赚佣金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22960" y="4828032"/>
            <a:ext cx="7498080" cy="10973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9011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招商方案 ·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274320"/>
            <a:ext cx="1828800" cy="118872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3383280"/>
            <a:ext cx="914400" cy="914400"/>
          </a:xfrm>
          <a:prstGeom prst="ellipse">
            <a:avLst/>
          </a:prstGeom>
          <a:solidFill>
            <a:srgbClr val="818CF8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310896"/>
            <a:ext cx="146304" cy="310896"/>
          </a:xfrm>
          <a:prstGeom prst="roundRect">
            <a:avLst>
              <a:gd name="adj" fmla="val 18750"/>
            </a:avLst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" y="274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理念 · 万物智联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680960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i="1" spc="100" kern="0" dirty="0">
                <a:solidFill>
                  <a:srgbClr val="5B6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65836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 5.0 = 万物智联：一个入口，办所有事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335024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过去是「万物互联」——设备能上网；现在是「万物智联」——设备听你一句话就自己动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773936"/>
            <a:ext cx="2633472" cy="2103120"/>
          </a:xfrm>
          <a:prstGeom prst="roundRect">
            <a:avLst>
              <a:gd name="adj" fmla="val 3478"/>
            </a:avLst>
          </a:prstGeom>
          <a:solidFill>
            <a:srgbClr val="0E152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" y="1920240"/>
            <a:ext cx="310896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557784" y="2029968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互联网的 5.0：万物智联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57784" y="2596896"/>
            <a:ext cx="2340864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8000"/>
              </a:lnSpc>
              <a:buNone/>
            </a:pPr>
            <a:r>
              <a:rPr lang="en-US" sz="84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 会越来越少，以后只有一个 AI 入口：你说一句话，它替你点外卖、叫车、开空调、下单找服务。谁握着入口，谁就握着流量。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2148840" y="354787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2148840" y="3561588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55264" y="1773936"/>
            <a:ext cx="2633472" cy="2103120"/>
          </a:xfrm>
          <a:prstGeom prst="roundRect">
            <a:avLst>
              <a:gd name="adj" fmla="val 3478"/>
            </a:avLst>
          </a:prstGeom>
          <a:solidFill>
            <a:srgbClr val="0E1526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01568" y="1920240"/>
            <a:ext cx="310896" cy="54864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7" name="Text 15"/>
          <p:cNvSpPr/>
          <p:nvPr/>
        </p:nvSpPr>
        <p:spPr>
          <a:xfrm>
            <a:off x="3401568" y="2029968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大厂不倒，靠的是生态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401568" y="2596896"/>
            <a:ext cx="2340864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8000"/>
              </a:lnSpc>
              <a:buNone/>
            </a:pPr>
            <a:r>
              <a:rPr lang="en-US" sz="84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互联网寡头不是赢在「大」或「有钱」，而是赢在生态又大又厚。生态够大，才有资格站着说话；生态，才是倒不了的核心。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4992624" y="354787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/>
        </p:spPr>
      </p:sp>
      <p:sp>
        <p:nvSpPr>
          <p:cNvPr id="20" name="Text 18"/>
          <p:cNvSpPr/>
          <p:nvPr/>
        </p:nvSpPr>
        <p:spPr>
          <a:xfrm>
            <a:off x="4992624" y="3561588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本质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99048" y="1773936"/>
            <a:ext cx="2633472" cy="2103120"/>
          </a:xfrm>
          <a:prstGeom prst="roundRect">
            <a:avLst>
              <a:gd name="adj" fmla="val 3478"/>
            </a:avLst>
          </a:prstGeom>
          <a:solidFill>
            <a:srgbClr val="0E1526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45352" y="1920240"/>
            <a:ext cx="310896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3" name="Text 21"/>
          <p:cNvSpPr/>
          <p:nvPr/>
        </p:nvSpPr>
        <p:spPr>
          <a:xfrm>
            <a:off x="6245352" y="2029968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 ≠ 壁垒，壁垒要抄不走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245352" y="2596896"/>
            <a:ext cx="2340864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8000"/>
              </a:lnSpc>
              <a:buNone/>
            </a:pPr>
            <a:r>
              <a:rPr lang="en-US" sz="84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钰字辈是生态，但别人换个名字就能抄，还不是壁垒。真正的壁垒：线下是跑起来的供应链矩阵，线上是积累起来的 AI 生态与用户资产。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7836408" y="354787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26" name="Text 24"/>
          <p:cNvSpPr/>
          <p:nvPr/>
        </p:nvSpPr>
        <p:spPr>
          <a:xfrm>
            <a:off x="7836408" y="3561588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4114800"/>
            <a:ext cx="8321040" cy="566928"/>
          </a:xfrm>
          <a:prstGeom prst="roundRect">
            <a:avLst>
              <a:gd name="adj" fmla="val 12903"/>
            </a:avLst>
          </a:prstGeom>
          <a:solidFill>
            <a:srgbClr val="0E1526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206240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两条生态链一起建：线下的「供应链矩阵」+ 线上的「AI 智能生态」。线下空间、模式、名字都能抄，唯独供应链矩阵、合伙人数字资产、已积累的用户生态，抄不走。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412480" y="482803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274320"/>
            <a:ext cx="1828800" cy="118872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3383280"/>
            <a:ext cx="914400" cy="914400"/>
          </a:xfrm>
          <a:prstGeom prst="ellipse">
            <a:avLst/>
          </a:prstGeom>
          <a:solidFill>
            <a:srgbClr val="818CF8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310896"/>
            <a:ext cx="146304" cy="310896"/>
          </a:xfrm>
          <a:prstGeom prst="roundRect">
            <a:avLst>
              <a:gd name="adj" fmla="val 18750"/>
            </a:avLst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" y="274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系统定位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680960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i="1" spc="100" kern="0" dirty="0">
                <a:solidFill>
                  <a:srgbClr val="5B6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65836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一套赋能所有合伙人的线上生态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335024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形态：面向钰字辈合伙人的线上生态赋能系统，前期以 AI 助理「小钰」呈现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755648"/>
            <a:ext cx="4023360" cy="2395728"/>
          </a:xfrm>
          <a:prstGeom prst="roundRect">
            <a:avLst>
              <a:gd name="adj" fmla="val 3053"/>
            </a:avLst>
          </a:prstGeom>
          <a:solidFill>
            <a:srgbClr val="0E1526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956816"/>
            <a:ext cx="457200" cy="457200"/>
          </a:xfrm>
          <a:prstGeom prst="ellipse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01168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195681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为什么做它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94360" y="243230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我一个人跑断腿，也帮不了几个人。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但有了「小钰」就不一样了：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3118104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" y="30358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6EC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电脑上 90% 的问题，它都能解决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3483864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" y="34015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6EC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工作上的痛点，它能帮着扛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" y="3849624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" y="37673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6EC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流量获取的难题，它替你想办法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17720" y="1755648"/>
            <a:ext cx="4114800" cy="2395728"/>
          </a:xfrm>
          <a:prstGeom prst="roundRect">
            <a:avLst>
              <a:gd name="adj" fmla="val 3053"/>
            </a:avLst>
          </a:prstGeom>
          <a:solidFill>
            <a:srgbClr val="0E1526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1956816"/>
            <a:ext cx="457200" cy="457200"/>
          </a:xfrm>
          <a:prstGeom prst="ellipse">
            <a:avLst/>
          </a:prstGeom>
          <a:solidFill>
            <a:srgbClr val="818CF8">
              <a:alpha val="8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201168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答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195681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核心目的：赋能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800600" y="2432304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让每个合伙人都能用上 AI 的本事，一个人也能顶一个小团队：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3118104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6" name="Text 24"/>
          <p:cNvSpPr/>
          <p:nvPr/>
        </p:nvSpPr>
        <p:spPr>
          <a:xfrm>
            <a:off x="5001768" y="30358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6EC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会做 PPT / 文档 / 表格 / 改图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00600" y="3483864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8" name="Text 26"/>
          <p:cNvSpPr/>
          <p:nvPr/>
        </p:nvSpPr>
        <p:spPr>
          <a:xfrm>
            <a:off x="5001768" y="34015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6EC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自动做短视频、小红书图文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3849624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0" name="Text 28"/>
          <p:cNvSpPr/>
          <p:nvPr/>
        </p:nvSpPr>
        <p:spPr>
          <a:xfrm>
            <a:off x="5001768" y="37673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6EC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不会的电脑操作，说一声就代劳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11480" y="4315968"/>
            <a:ext cx="8321040" cy="402336"/>
          </a:xfrm>
          <a:prstGeom prst="roundRect">
            <a:avLst>
              <a:gd name="adj" fmla="val 15909"/>
            </a:avLst>
          </a:prstGeom>
          <a:solidFill>
            <a:srgbClr val="131C33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379976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把「一个人的能力」变成「所有合伙人的能力」——这是这套系统的第一性原理。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412480" y="482803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274320"/>
            <a:ext cx="1828800" cy="118872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3383280"/>
            <a:ext cx="914400" cy="914400"/>
          </a:xfrm>
          <a:prstGeom prst="ellipse">
            <a:avLst/>
          </a:prstGeom>
          <a:solidFill>
            <a:srgbClr val="818CF8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310896"/>
            <a:ext cx="146304" cy="310896"/>
          </a:xfrm>
          <a:prstGeom prst="roundRect">
            <a:avLst>
              <a:gd name="adj" fmla="val 18750"/>
            </a:avLst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" y="274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助理「小钰」· 能干什么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680960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i="1" spc="100" kern="0" dirty="0">
                <a:solidFill>
                  <a:srgbClr val="5B6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65836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小钰：电脑上的事，百分之九十都能替你办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335024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所有功能都做了极简化处理——不用学、不用记，跟它说话或者打字就行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755648"/>
            <a:ext cx="2633472" cy="914400"/>
          </a:xfrm>
          <a:prstGeom prst="roundRect">
            <a:avLst>
              <a:gd name="adj" fmla="val 7000"/>
            </a:avLst>
          </a:prstGeom>
          <a:solidFill>
            <a:srgbClr val="0E1526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9496" y="1883664"/>
            <a:ext cx="27432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539496" y="195681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 PPT / 文档 / 表格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39496" y="224942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78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一句话说需求，成稿直接交给你，改哪里说哪里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3255264" y="1755648"/>
            <a:ext cx="2633472" cy="914400"/>
          </a:xfrm>
          <a:prstGeom prst="roundRect">
            <a:avLst>
              <a:gd name="adj" fmla="val 7000"/>
            </a:avLst>
          </a:prstGeom>
          <a:solidFill>
            <a:srgbClr val="0E1526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1883664"/>
            <a:ext cx="274320" cy="457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195681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帮你改图片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83280" y="224942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78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修图、做图、加字、排版，说一声就动手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6099048" y="1755648"/>
            <a:ext cx="2633472" cy="914400"/>
          </a:xfrm>
          <a:prstGeom prst="roundRect">
            <a:avLst>
              <a:gd name="adj" fmla="val 7000"/>
            </a:avLst>
          </a:prstGeom>
          <a:solidFill>
            <a:srgbClr val="0E1526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27064" y="1883664"/>
            <a:ext cx="274320" cy="457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9" name="Text 17"/>
          <p:cNvSpPr/>
          <p:nvPr/>
        </p:nvSpPr>
        <p:spPr>
          <a:xfrm>
            <a:off x="6227064" y="195681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自动做短视频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27064" y="224942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78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说主题、定风格，它翻素材自己剪，做出来给你看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411480" y="2798064"/>
            <a:ext cx="2633472" cy="914400"/>
          </a:xfrm>
          <a:prstGeom prst="roundRect">
            <a:avLst>
              <a:gd name="adj" fmla="val 7000"/>
            </a:avLst>
          </a:prstGeom>
          <a:solidFill>
            <a:srgbClr val="0E1526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" y="2926080"/>
            <a:ext cx="274320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3" name="Text 21"/>
          <p:cNvSpPr/>
          <p:nvPr/>
        </p:nvSpPr>
        <p:spPr>
          <a:xfrm>
            <a:off x="539496" y="299923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自动做小红书图文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39496" y="32918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78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文案、配图、排版一步到位，发出去就是内容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3255264" y="2798064"/>
            <a:ext cx="2633472" cy="914400"/>
          </a:xfrm>
          <a:prstGeom prst="roundRect">
            <a:avLst>
              <a:gd name="adj" fmla="val 7000"/>
            </a:avLst>
          </a:prstGeom>
          <a:solidFill>
            <a:srgbClr val="0E1526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83280" y="2926080"/>
            <a:ext cx="27432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0" y="299923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不会的电脑操作它代劳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383280" y="32918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78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找不到的设置、不会装的软件、不会走的流程，交给它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6099048" y="2798064"/>
            <a:ext cx="2633472" cy="914400"/>
          </a:xfrm>
          <a:prstGeom prst="roundRect">
            <a:avLst>
              <a:gd name="adj" fmla="val 7000"/>
            </a:avLst>
          </a:prstGeom>
          <a:solidFill>
            <a:srgbClr val="0E1526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27064" y="2926080"/>
            <a:ext cx="27432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1" name="Text 29"/>
          <p:cNvSpPr/>
          <p:nvPr/>
        </p:nvSpPr>
        <p:spPr>
          <a:xfrm>
            <a:off x="6227064" y="299923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工作上的痛点它来扛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227064" y="32918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78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重复的杂活、要动脑的初稿，它先干，你来定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411480" y="3913632"/>
            <a:ext cx="8321040" cy="548640"/>
          </a:xfrm>
          <a:prstGeom prst="roundRect">
            <a:avLst>
              <a:gd name="adj" fmla="val 13333"/>
            </a:avLst>
          </a:prstGeom>
          <a:solidFill>
            <a:srgbClr val="0E1526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4023360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核心不是「功能多」，而是「谁都学得会」：不用懂电脑，不用学软件，说话、打字，事情就办成了。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12480" y="482803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274320"/>
            <a:ext cx="1828800" cy="118872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3383280"/>
            <a:ext cx="914400" cy="914400"/>
          </a:xfrm>
          <a:prstGeom prst="ellipse">
            <a:avLst/>
          </a:prstGeom>
          <a:solidFill>
            <a:srgbClr val="818CF8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310896"/>
            <a:ext cx="146304" cy="310896"/>
          </a:xfrm>
          <a:prstGeom prst="roundRect">
            <a:avLst>
              <a:gd name="adj" fmla="val 18750"/>
            </a:avLst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" y="274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怎么用 · 两种交互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680960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i="1" spc="100" kern="0" dirty="0">
                <a:solidFill>
                  <a:srgbClr val="5B6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65836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两种用法：懒人全自动，或自己动手半自动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335024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按你的习惯选：一个像打电话，一个像用软件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773936"/>
            <a:ext cx="4069080" cy="2432304"/>
          </a:xfrm>
          <a:prstGeom prst="roundRect">
            <a:avLst>
              <a:gd name="adj" fmla="val 3008"/>
            </a:avLst>
          </a:prstGeom>
          <a:solidFill>
            <a:srgbClr val="0E1526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072" y="192024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" y="1933956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语音交互 · 懒人模式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230428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像打电话一样跟它聊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65176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你说「素材在桌面『素材』文件夹里」，它自己找到文件夹、上传到知识库、把活干完、再给你看结果——全程你什么都不用管。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3712464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基本全自动，操作成本偏高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4005072"/>
            <a:ext cx="3703320" cy="10973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6" name="Shape 14"/>
          <p:cNvSpPr/>
          <p:nvPr/>
        </p:nvSpPr>
        <p:spPr>
          <a:xfrm>
            <a:off x="4663440" y="1773936"/>
            <a:ext cx="4069080" cy="2432304"/>
          </a:xfrm>
          <a:prstGeom prst="roundRect">
            <a:avLst>
              <a:gd name="adj" fmla="val 3008"/>
            </a:avLst>
          </a:prstGeom>
          <a:solidFill>
            <a:srgbClr val="0E1526"/>
          </a:solidFill>
          <a:ln w="15240">
            <a:solidFill>
              <a:srgbClr val="818C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28032" y="192024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/>
        </p:spPr>
      </p:sp>
      <p:sp>
        <p:nvSpPr>
          <p:cNvPr id="18" name="Text 16"/>
          <p:cNvSpPr/>
          <p:nvPr/>
        </p:nvSpPr>
        <p:spPr>
          <a:xfrm>
            <a:off x="4828032" y="1933956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页面交互 · 半自动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0" y="230428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传统的网页操作方式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265176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东西自己上传、页面自己点，每一步都看得见、都在你手里。适合想自己掌控过程的用户。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3712464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半自动，成本更低、过程可控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4005072"/>
            <a:ext cx="3703320" cy="10973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23" name="Shape 21"/>
          <p:cNvSpPr/>
          <p:nvPr/>
        </p:nvSpPr>
        <p:spPr>
          <a:xfrm>
            <a:off x="411480" y="4352544"/>
            <a:ext cx="8321040" cy="365760"/>
          </a:xfrm>
          <a:prstGeom prst="roundRect">
            <a:avLst>
              <a:gd name="adj" fmla="val 17500"/>
            </a:avLst>
          </a:prstGeom>
          <a:solidFill>
            <a:srgbClr val="131C33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4416552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两种入口都通同一个「小钰」：想省事用语音，想可控用页面，随时切换。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12480" y="482803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274320"/>
            <a:ext cx="1828800" cy="118872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3383280"/>
            <a:ext cx="914400" cy="914400"/>
          </a:xfrm>
          <a:prstGeom prst="ellipse">
            <a:avLst/>
          </a:prstGeom>
          <a:solidFill>
            <a:srgbClr val="818CF8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310896"/>
            <a:ext cx="146304" cy="310896"/>
          </a:xfrm>
          <a:prstGeom prst="roundRect">
            <a:avLst>
              <a:gd name="adj" fmla="val 18750"/>
            </a:avLst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" y="274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 · 素材都归它管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680960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i="1" spc="100" kern="0" dirty="0">
                <a:solidFill>
                  <a:srgbClr val="5B6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65836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一个知识库，装下你所有的素材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335024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几乎所有文件都能存：文档、表格、图片，连视频素材也没问题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773936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0E1526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01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能存什么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" y="2249424"/>
            <a:ext cx="3566160" cy="530352"/>
          </a:xfrm>
          <a:prstGeom prst="roundRect">
            <a:avLst>
              <a:gd name="adj" fmla="val 10345"/>
            </a:avLst>
          </a:prstGeom>
          <a:solidFill>
            <a:srgbClr val="131C33"/>
          </a:solidFill>
          <a:ln/>
        </p:spPr>
      </p:sp>
      <p:sp>
        <p:nvSpPr>
          <p:cNvPr id="12" name="Shape 10"/>
          <p:cNvSpPr/>
          <p:nvPr/>
        </p:nvSpPr>
        <p:spPr>
          <a:xfrm>
            <a:off x="722376" y="2395728"/>
            <a:ext cx="237744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722376" y="232257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文档表格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22376" y="256032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 / PPT / Excel / PDF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594360" y="2889504"/>
            <a:ext cx="3566160" cy="530352"/>
          </a:xfrm>
          <a:prstGeom prst="roundRect">
            <a:avLst>
              <a:gd name="adj" fmla="val 10345"/>
            </a:avLst>
          </a:prstGeom>
          <a:solidFill>
            <a:srgbClr val="131C33"/>
          </a:solidFill>
          <a:ln/>
        </p:spPr>
      </p:sp>
      <p:sp>
        <p:nvSpPr>
          <p:cNvPr id="16" name="Shape 14"/>
          <p:cNvSpPr/>
          <p:nvPr/>
        </p:nvSpPr>
        <p:spPr>
          <a:xfrm>
            <a:off x="722376" y="3035808"/>
            <a:ext cx="237744" cy="457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" y="296265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图片设计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22376" y="320040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照片、海报、素材图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594360" y="3529584"/>
            <a:ext cx="3566160" cy="530352"/>
          </a:xfrm>
          <a:prstGeom prst="roundRect">
            <a:avLst>
              <a:gd name="adj" fmla="val 10345"/>
            </a:avLst>
          </a:prstGeom>
          <a:solidFill>
            <a:srgbClr val="131C33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" y="3675888"/>
            <a:ext cx="237744" cy="457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360273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视频音频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22376" y="38404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拍摄的素材、成片、录音</a:t>
            </a:r>
            <a:endParaRPr lang="en-US" sz="760" dirty="0"/>
          </a:p>
        </p:txBody>
      </p:sp>
      <p:sp>
        <p:nvSpPr>
          <p:cNvPr id="23" name="Text 21"/>
          <p:cNvSpPr/>
          <p:nvPr/>
        </p:nvSpPr>
        <p:spPr>
          <a:xfrm>
            <a:off x="594360" y="3840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860" dirty="0">
                <a:solidFill>
                  <a:srgbClr val="5B6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素材放进去，就是小钰的「弹药库」，做视频、做图文时随手取用。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4663440" y="177393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做个视频，全程只用聊天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663440" y="2103120"/>
            <a:ext cx="3931920" cy="493776"/>
          </a:xfrm>
          <a:prstGeom prst="roundRect">
            <a:avLst>
              <a:gd name="adj" fmla="val 11111"/>
            </a:avLst>
          </a:prstGeom>
          <a:solidFill>
            <a:srgbClr val="0E1526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91456" y="2203704"/>
            <a:ext cx="292608" cy="2926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7" name="Text 25"/>
          <p:cNvSpPr/>
          <p:nvPr/>
        </p:nvSpPr>
        <p:spPr>
          <a:xfrm>
            <a:off x="4791456" y="2231136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75504" y="2157984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你说想法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75504" y="237744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想做什么类型的视频、主题大概是什么</a:t>
            </a:r>
            <a:endParaRPr lang="en-US" sz="760" dirty="0"/>
          </a:p>
        </p:txBody>
      </p:sp>
      <p:sp>
        <p:nvSpPr>
          <p:cNvPr id="30" name="Shape 28"/>
          <p:cNvSpPr/>
          <p:nvPr/>
        </p:nvSpPr>
        <p:spPr>
          <a:xfrm>
            <a:off x="4663440" y="2688336"/>
            <a:ext cx="3931920" cy="493776"/>
          </a:xfrm>
          <a:prstGeom prst="roundRect">
            <a:avLst>
              <a:gd name="adj" fmla="val 11111"/>
            </a:avLst>
          </a:prstGeom>
          <a:solidFill>
            <a:srgbClr val="0E1526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91456" y="2788920"/>
            <a:ext cx="292608" cy="29260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32" name="Text 30"/>
          <p:cNvSpPr/>
          <p:nvPr/>
        </p:nvSpPr>
        <p:spPr>
          <a:xfrm>
            <a:off x="4791456" y="2816352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75504" y="274320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它反问你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75504" y="296265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追问内容细节，跟你讨论清楚再动手</a:t>
            </a:r>
            <a:endParaRPr lang="en-US" sz="760" dirty="0"/>
          </a:p>
        </p:txBody>
      </p:sp>
      <p:sp>
        <p:nvSpPr>
          <p:cNvPr id="35" name="Shape 33"/>
          <p:cNvSpPr/>
          <p:nvPr/>
        </p:nvSpPr>
        <p:spPr>
          <a:xfrm>
            <a:off x="4663440" y="3273552"/>
            <a:ext cx="3931920" cy="493776"/>
          </a:xfrm>
          <a:prstGeom prst="roundRect">
            <a:avLst>
              <a:gd name="adj" fmla="val 11111"/>
            </a:avLst>
          </a:prstGeom>
          <a:solidFill>
            <a:srgbClr val="0E1526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91456" y="3374136"/>
            <a:ext cx="292608" cy="29260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7" name="Text 35"/>
          <p:cNvSpPr/>
          <p:nvPr/>
        </p:nvSpPr>
        <p:spPr>
          <a:xfrm>
            <a:off x="4791456" y="3401568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75504" y="3328416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翻素材做片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75504" y="354787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自己去知识库挑素材、剪辑、配字幕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4663440" y="3858768"/>
            <a:ext cx="3931920" cy="493776"/>
          </a:xfrm>
          <a:prstGeom prst="roundRect">
            <a:avLst>
              <a:gd name="adj" fmla="val 11111"/>
            </a:avLst>
          </a:prstGeom>
          <a:solidFill>
            <a:srgbClr val="0E1526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91456" y="3959352"/>
            <a:ext cx="292608" cy="29260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42" name="Text 40"/>
          <p:cNvSpPr/>
          <p:nvPr/>
        </p:nvSpPr>
        <p:spPr>
          <a:xfrm>
            <a:off x="4791456" y="3986784"/>
            <a:ext cx="29260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75504" y="3913632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预览给你看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175504" y="413308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先给你预览，哪里不行再说一声就改</a:t>
            </a:r>
            <a:endParaRPr lang="en-US" sz="760" dirty="0"/>
          </a:p>
        </p:txBody>
      </p:sp>
      <p:sp>
        <p:nvSpPr>
          <p:cNvPr id="45" name="Text 43"/>
          <p:cNvSpPr/>
          <p:nvPr/>
        </p:nvSpPr>
        <p:spPr>
          <a:xfrm>
            <a:off x="8412480" y="482803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274320"/>
            <a:ext cx="1828800" cy="118872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3383280"/>
            <a:ext cx="914400" cy="914400"/>
          </a:xfrm>
          <a:prstGeom prst="ellipse">
            <a:avLst/>
          </a:prstGeom>
          <a:solidFill>
            <a:srgbClr val="818CF8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310896"/>
            <a:ext cx="146304" cy="310896"/>
          </a:xfrm>
          <a:prstGeom prst="roundRect">
            <a:avLst>
              <a:gd name="adj" fmla="val 18750"/>
            </a:avLst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" y="274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放心用 · 安全兜底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680960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i="1" spc="100" kern="0" dirty="0">
                <a:solidFill>
                  <a:srgbClr val="5B6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65836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敢让它动你的电脑：改坏了退得回，删错了找得回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335024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最担心的事——它搞坏文件、误删资料——我们提前做好了保险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810512"/>
            <a:ext cx="4069080" cy="1920240"/>
          </a:xfrm>
          <a:prstGeom prst="roundRect">
            <a:avLst>
              <a:gd name="adj" fmla="val 3810"/>
            </a:avLst>
          </a:prstGeom>
          <a:solidFill>
            <a:srgbClr val="0E1526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072" y="1956816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" y="1970532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快照系统 · 改坏回滚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2340864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动手前先留底，改坏了马上还原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688336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小钰每次改动文件前都会存一份「快照」。改坏了、改错了，一句话或一键就能回到改动前的样子，什么都不耽误。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3346704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随手恢复，不用求人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1810512"/>
            <a:ext cx="4069080" cy="1920240"/>
          </a:xfrm>
          <a:prstGeom prst="roundRect">
            <a:avLst>
              <a:gd name="adj" fmla="val 3810"/>
            </a:avLst>
          </a:prstGeom>
          <a:solidFill>
            <a:srgbClr val="0E1526"/>
          </a:solidFill>
          <a:ln w="15240">
            <a:solidFill>
              <a:srgbClr val="818C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28032" y="1956816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/>
        </p:spPr>
      </p:sp>
      <p:sp>
        <p:nvSpPr>
          <p:cNvPr id="17" name="Text 15"/>
          <p:cNvSpPr/>
          <p:nvPr/>
        </p:nvSpPr>
        <p:spPr>
          <a:xfrm>
            <a:off x="4828032" y="1970532"/>
            <a:ext cx="1737360" cy="2468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0E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回收站 · 删错找回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0" y="2340864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误删的文件，随时捞回来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688336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就算真把文件删了也不怕：回收站里都留着，随时可以恢复。恢复这个动作，小钰自己也能帮你完成。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3346704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恢复它自己也会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3968496"/>
            <a:ext cx="8321040" cy="658368"/>
          </a:xfrm>
          <a:prstGeom prst="roundRect">
            <a:avLst>
              <a:gd name="adj" fmla="val 11111"/>
            </a:avLst>
          </a:prstGeom>
          <a:solidFill>
            <a:srgbClr val="0E1526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078224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放心交权的底气：能改、能删，就一定也能退、能找。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94360" y="4334256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快照 + 回收站双保险，让「全自动干活」从担心变成放心。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8412480" y="482803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274320"/>
            <a:ext cx="1828800" cy="118872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3383280"/>
            <a:ext cx="914400" cy="914400"/>
          </a:xfrm>
          <a:prstGeom prst="ellipse">
            <a:avLst/>
          </a:prstGeom>
          <a:solidFill>
            <a:srgbClr val="818CF8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310896"/>
            <a:ext cx="146304" cy="310896"/>
          </a:xfrm>
          <a:prstGeom prst="roundRect">
            <a:avLst>
              <a:gd name="adj" fmla="val 18750"/>
            </a:avLst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" y="274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电脑管家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680960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i="1" spc="100" kern="0" dirty="0">
                <a:solidFill>
                  <a:srgbClr val="5B6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65836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电脑的事，交给它当管家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335024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软件坏了它能修、设置找不到它能干、定时的事它到点就办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755648"/>
            <a:ext cx="2633472" cy="1371600"/>
          </a:xfrm>
          <a:prstGeom prst="roundRect">
            <a:avLst>
              <a:gd name="adj" fmla="val 5333"/>
            </a:avLst>
          </a:prstGeom>
          <a:solidFill>
            <a:srgbClr val="0E1526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" y="1901952"/>
            <a:ext cx="402336" cy="402336"/>
          </a:xfrm>
          <a:prstGeom prst="ellipse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57784" y="1956816"/>
            <a:ext cx="402336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33272" y="193852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修电脑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7784" y="2432304"/>
            <a:ext cx="2340864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软件出了故障，不用找人、不用重装，让它自己排查自己修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3255264" y="1755648"/>
            <a:ext cx="2633472" cy="1371600"/>
          </a:xfrm>
          <a:prstGeom prst="roundRect">
            <a:avLst>
              <a:gd name="adj" fmla="val 5333"/>
            </a:avLst>
          </a:prstGeom>
          <a:solidFill>
            <a:srgbClr val="0E1526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01568" y="1901952"/>
            <a:ext cx="402336" cy="402336"/>
          </a:xfrm>
          <a:prstGeom prst="ellipse">
            <a:avLst/>
          </a:prstGeom>
          <a:solidFill>
            <a:srgbClr val="818CF8">
              <a:alpha val="8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401568" y="1956816"/>
            <a:ext cx="402336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77056" y="193852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改设置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01568" y="2432304"/>
            <a:ext cx="2340864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想改电脑上的什么设置自己找不着，说一声让它干就行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6099048" y="1755648"/>
            <a:ext cx="2633472" cy="1371600"/>
          </a:xfrm>
          <a:prstGeom prst="roundRect">
            <a:avLst>
              <a:gd name="adj" fmla="val 5333"/>
            </a:avLst>
          </a:prstGeom>
          <a:solidFill>
            <a:srgbClr val="0E1526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45352" y="1901952"/>
            <a:ext cx="402336" cy="402336"/>
          </a:xfrm>
          <a:prstGeom prst="ellipse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245352" y="1956816"/>
            <a:ext cx="402336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20840" y="193852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定时任务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45352" y="2432304"/>
            <a:ext cx="2340864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到点自动办：清垃圾、做总结、排日程、盯群消息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41148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定时任务举例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11480" y="3621024"/>
            <a:ext cx="1993392" cy="768096"/>
          </a:xfrm>
          <a:prstGeom prst="roundRect">
            <a:avLst>
              <a:gd name="adj" fmla="val 8333"/>
            </a:avLst>
          </a:prstGeom>
          <a:solidFill>
            <a:srgbClr val="131C33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" y="3694176"/>
            <a:ext cx="1847088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每周一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4632" y="3950208"/>
            <a:ext cx="184708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E6EC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给电脑清一下垃圾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523744" y="3621024"/>
            <a:ext cx="1993392" cy="768096"/>
          </a:xfrm>
          <a:prstGeom prst="roundRect">
            <a:avLst>
              <a:gd name="adj" fmla="val 8333"/>
            </a:avLst>
          </a:prstGeom>
          <a:solidFill>
            <a:srgbClr val="131C33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96896" y="3694176"/>
            <a:ext cx="1847088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每晚十点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596896" y="3950208"/>
            <a:ext cx="184708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E6EC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总结今天一天的工作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636008" y="3621024"/>
            <a:ext cx="1993392" cy="768096"/>
          </a:xfrm>
          <a:prstGeom prst="roundRect">
            <a:avLst>
              <a:gd name="adj" fmla="val 8333"/>
            </a:avLst>
          </a:prstGeom>
          <a:solidFill>
            <a:srgbClr val="131C33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694176"/>
            <a:ext cx="1847088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每天早上七点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09160" y="3950208"/>
            <a:ext cx="184708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E6EC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安排今天的工作日程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748272" y="3621024"/>
            <a:ext cx="1993392" cy="768096"/>
          </a:xfrm>
          <a:prstGeom prst="roundRect">
            <a:avLst>
              <a:gd name="adj" fmla="val 8333"/>
            </a:avLst>
          </a:prstGeom>
          <a:solidFill>
            <a:srgbClr val="131C33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21424" y="3694176"/>
            <a:ext cx="1847088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每天早上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21424" y="3950208"/>
            <a:ext cx="184708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E6EC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总结群里昨晚的消息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11480" y="4498848"/>
            <a:ext cx="8321040" cy="365760"/>
          </a:xfrm>
          <a:prstGeom prst="roundRect">
            <a:avLst>
              <a:gd name="adj" fmla="val 17500"/>
            </a:avLst>
          </a:prstGeom>
          <a:solidFill>
            <a:srgbClr val="131C33"/>
          </a:solidFill>
          <a:ln/>
        </p:spPr>
      </p:sp>
      <p:sp>
        <p:nvSpPr>
          <p:cNvPr id="38" name="Text 36"/>
          <p:cNvSpPr/>
          <p:nvPr/>
        </p:nvSpPr>
        <p:spPr>
          <a:xfrm>
            <a:off x="594360" y="4562856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包括微信里某个群昨晚聊了什么，它早上都能给你总结好。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412480" y="482803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274320"/>
            <a:ext cx="1828800" cy="118872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3383280"/>
            <a:ext cx="914400" cy="914400"/>
          </a:xfrm>
          <a:prstGeom prst="ellipse">
            <a:avLst/>
          </a:prstGeom>
          <a:solidFill>
            <a:srgbClr val="818CF8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310896"/>
            <a:ext cx="146304" cy="310896"/>
          </a:xfrm>
          <a:prstGeom prst="roundRect">
            <a:avLst>
              <a:gd name="adj" fmla="val 18750"/>
            </a:avLst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" y="274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核心板块 · 合伙人分身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680960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i="1" spc="100" kern="0" dirty="0">
                <a:solidFill>
                  <a:srgbClr val="5B6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65836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把每个人的本事，变成人人都能用的「分身」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335024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特长、能力、经验平时想不全、用不出；打包成分身，让 AI 随时调用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755648"/>
            <a:ext cx="4023360" cy="2395728"/>
          </a:xfrm>
          <a:prstGeom prst="roundRect">
            <a:avLst>
              <a:gd name="adj" fmla="val 3053"/>
            </a:avLst>
          </a:prstGeom>
          <a:solidFill>
            <a:srgbClr val="0E1526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836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每个人的经验，平时都用不出来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1945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再多的特长和本事，也不可能一下全想起来，大部分时候靠「突然冒出来的灵感」。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594360" y="2962656"/>
            <a:ext cx="3657600" cy="10973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0906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分身的做法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340156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920" dirty="0">
                <a:solidFill>
                  <a:srgbClr val="E6EC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把这些特长、能力、经验，完整打包放进系统里，交给小钰使用——你需要时它自己会去调用。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4663440" y="17556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应用商店：选个分身来用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084832"/>
            <a:ext cx="3931920" cy="585216"/>
          </a:xfrm>
          <a:prstGeom prst="roundRect">
            <a:avLst>
              <a:gd name="adj" fmla="val 9375"/>
            </a:avLst>
          </a:prstGeom>
          <a:solidFill>
            <a:srgbClr val="0E1526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91456" y="2221992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8" name="Text 16"/>
          <p:cNvSpPr/>
          <p:nvPr/>
        </p:nvSpPr>
        <p:spPr>
          <a:xfrm>
            <a:off x="4791456" y="2258568"/>
            <a:ext cx="31089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93792" y="213969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逛商店选分身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93792" y="239572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所有分身都在应用商店里，自己挑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4663440" y="2761488"/>
            <a:ext cx="3931920" cy="585216"/>
          </a:xfrm>
          <a:prstGeom prst="roundRect">
            <a:avLst>
              <a:gd name="adj" fmla="val 9375"/>
            </a:avLst>
          </a:prstGeom>
          <a:solidFill>
            <a:srgbClr val="0E1526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91456" y="2898648"/>
            <a:ext cx="310896" cy="310896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23" name="Text 21"/>
          <p:cNvSpPr/>
          <p:nvPr/>
        </p:nvSpPr>
        <p:spPr>
          <a:xfrm>
            <a:off x="4791456" y="2935224"/>
            <a:ext cx="31089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93792" y="281635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加进我的应用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193792" y="30723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选中的分身进你的应用列表，随时用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4663440" y="3438144"/>
            <a:ext cx="3931920" cy="585216"/>
          </a:xfrm>
          <a:prstGeom prst="roundRect">
            <a:avLst>
              <a:gd name="adj" fmla="val 9375"/>
            </a:avLst>
          </a:prstGeom>
          <a:solidFill>
            <a:srgbClr val="0E1526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91456" y="3575304"/>
            <a:ext cx="310896" cy="3108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8" name="Text 26"/>
          <p:cNvSpPr/>
          <p:nvPr/>
        </p:nvSpPr>
        <p:spPr>
          <a:xfrm>
            <a:off x="4791456" y="3611880"/>
            <a:ext cx="31089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93792" y="349300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小钰自动调用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193792" y="374904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你问相关问题，它自己找对应的分身来完成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411480" y="4315968"/>
            <a:ext cx="8321040" cy="402336"/>
          </a:xfrm>
          <a:prstGeom prst="roundRect">
            <a:avLst>
              <a:gd name="adj" fmla="val 15909"/>
            </a:avLst>
          </a:prstGeom>
          <a:solidFill>
            <a:srgbClr val="131C33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379976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合伙人越多，商店里的分身就越多，所有人都能用的能力就越多——问题解决了，钱也一起赚了。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412480" y="482803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274320"/>
            <a:ext cx="1828800" cy="118872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3383280"/>
            <a:ext cx="914400" cy="914400"/>
          </a:xfrm>
          <a:prstGeom prst="ellipse">
            <a:avLst/>
          </a:prstGeom>
          <a:solidFill>
            <a:srgbClr val="818CF8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310896"/>
            <a:ext cx="146304" cy="310896"/>
          </a:xfrm>
          <a:prstGeom prst="roundRect">
            <a:avLst>
              <a:gd name="adj" fmla="val 18750"/>
            </a:avLst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" y="274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分身 · 怎么赚钱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680960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i="1" spc="100" kern="0" dirty="0">
                <a:solidFill>
                  <a:srgbClr val="5B6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65836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上传分身，自己定价，躺着也能收钱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335024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你的本事数字化之后，就能「复制」出去帮别人干活，还能收使用费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773936"/>
            <a:ext cx="2633472" cy="1481328"/>
          </a:xfrm>
          <a:prstGeom prst="roundRect">
            <a:avLst>
              <a:gd name="adj" fmla="val 4938"/>
            </a:avLst>
          </a:prstGeom>
          <a:solidFill>
            <a:srgbClr val="0E1526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" y="1920240"/>
            <a:ext cx="402336" cy="402336"/>
          </a:xfrm>
          <a:prstGeom prst="ellipse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57784" y="1975104"/>
            <a:ext cx="402336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33272" y="1956816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人人都能上传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7784" y="2450592"/>
            <a:ext cx="2340864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所有合伙人都可以上传自己的分身，提交后审核通过就能上架应用商店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3255264" y="1773936"/>
            <a:ext cx="2633472" cy="1481328"/>
          </a:xfrm>
          <a:prstGeom prst="roundRect">
            <a:avLst>
              <a:gd name="adj" fmla="val 4938"/>
            </a:avLst>
          </a:prstGeom>
          <a:solidFill>
            <a:srgbClr val="0E1526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01568" y="1920240"/>
            <a:ext cx="402336" cy="402336"/>
          </a:xfrm>
          <a:prstGeom prst="ellipse">
            <a:avLst/>
          </a:prstGeom>
          <a:solidFill>
            <a:srgbClr val="818CF8">
              <a:alpha val="8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401568" y="1975104"/>
            <a:ext cx="402336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77056" y="1956816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使用费自己定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01568" y="2450592"/>
            <a:ext cx="2340864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分身的定价由你自己定，别人用一次付一次，收入直接进你账上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6099048" y="1773936"/>
            <a:ext cx="2633472" cy="1481328"/>
          </a:xfrm>
          <a:prstGeom prst="roundRect">
            <a:avLst>
              <a:gd name="adj" fmla="val 4938"/>
            </a:avLst>
          </a:prstGeom>
          <a:solidFill>
            <a:srgbClr val="0E1526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45352" y="1920240"/>
            <a:ext cx="402336" cy="402336"/>
          </a:xfrm>
          <a:prstGeom prst="ellipse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245352" y="1975104"/>
            <a:ext cx="402336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20840" y="1956816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版本随时更新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45352" y="2450592"/>
            <a:ext cx="2340864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分身可以不断升级：经验长了就更新版本，越更新越值钱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411480" y="3456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两种分身，都能帮你赚钱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11480" y="3785616"/>
            <a:ext cx="4096512" cy="749808"/>
          </a:xfrm>
          <a:prstGeom prst="roundRect">
            <a:avLst>
              <a:gd name="adj" fmla="val 8537"/>
            </a:avLst>
          </a:prstGeom>
          <a:solidFill>
            <a:srgbClr val="0E1526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7784" y="3931920"/>
            <a:ext cx="256032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7" name="Text 25"/>
          <p:cNvSpPr/>
          <p:nvPr/>
        </p:nvSpPr>
        <p:spPr>
          <a:xfrm>
            <a:off x="557784" y="387705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技能型分身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57784" y="4133088"/>
            <a:ext cx="380390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有「一技之长」的合伙人：把知识和经验封装成分身，别人付费提问、付费使用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4636008" y="3785616"/>
            <a:ext cx="4096512" cy="749808"/>
          </a:xfrm>
          <a:prstGeom prst="roundRect">
            <a:avLst>
              <a:gd name="adj" fmla="val 8537"/>
            </a:avLst>
          </a:prstGeom>
          <a:solidFill>
            <a:srgbClr val="0E152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82312" y="3931920"/>
            <a:ext cx="256032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1" name="Text 29"/>
          <p:cNvSpPr/>
          <p:nvPr/>
        </p:nvSpPr>
        <p:spPr>
          <a:xfrm>
            <a:off x="4782312" y="387705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经验型分身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82312" y="4133088"/>
            <a:ext cx="380390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没「一技之长」也没关系：你的工作经验会随使用自动积累成技能，同样能上架分钱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8412480" y="482803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274320"/>
            <a:ext cx="1828800" cy="118872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3383280"/>
            <a:ext cx="914400" cy="914400"/>
          </a:xfrm>
          <a:prstGeom prst="ellipse">
            <a:avLst/>
          </a:prstGeom>
          <a:solidFill>
            <a:srgbClr val="818CF8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310896"/>
            <a:ext cx="146304" cy="310896"/>
          </a:xfrm>
          <a:prstGeom prst="roundRect">
            <a:avLst>
              <a:gd name="adj" fmla="val 18750"/>
            </a:avLst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" y="274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分销体系 · 绑定关系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680960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i="1" spc="100" kern="0" dirty="0">
                <a:solidFill>
                  <a:srgbClr val="5B6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65836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先成为会员，才有分销资格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335024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注册只能填邀请码或面对面扫码——关系链从一开始就锁死，外面的人抄都抄不了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773936"/>
            <a:ext cx="4023360" cy="2468880"/>
          </a:xfrm>
          <a:prstGeom prst="roundRect">
            <a:avLst>
              <a:gd name="adj" fmla="val 2963"/>
            </a:avLst>
          </a:prstGeom>
          <a:solidFill>
            <a:srgbClr val="0E1526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01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绑定怎么发生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" y="2249424"/>
            <a:ext cx="3657600" cy="512064"/>
          </a:xfrm>
          <a:prstGeom prst="roundRect">
            <a:avLst>
              <a:gd name="adj" fmla="val 10714"/>
            </a:avLst>
          </a:prstGeom>
          <a:solidFill>
            <a:srgbClr val="131C33"/>
          </a:solidFill>
          <a:ln/>
        </p:spPr>
      </p:sp>
      <p:sp>
        <p:nvSpPr>
          <p:cNvPr id="12" name="Shape 10"/>
          <p:cNvSpPr/>
          <p:nvPr/>
        </p:nvSpPr>
        <p:spPr>
          <a:xfrm>
            <a:off x="722376" y="2395728"/>
            <a:ext cx="219456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722376" y="230428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· 成为会员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22376" y="252374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先买会员，才有分销资格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594360" y="2852928"/>
            <a:ext cx="3657600" cy="512064"/>
          </a:xfrm>
          <a:prstGeom prst="roundRect">
            <a:avLst>
              <a:gd name="adj" fmla="val 10714"/>
            </a:avLst>
          </a:prstGeom>
          <a:solidFill>
            <a:srgbClr val="131C33"/>
          </a:solidFill>
          <a:ln/>
        </p:spPr>
      </p:sp>
      <p:sp>
        <p:nvSpPr>
          <p:cNvPr id="16" name="Shape 14"/>
          <p:cNvSpPr/>
          <p:nvPr/>
        </p:nvSpPr>
        <p:spPr>
          <a:xfrm>
            <a:off x="722376" y="2999232"/>
            <a:ext cx="219456" cy="457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" y="2907792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· 邀请注册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22376" y="312724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注册时必须填你的邀请码，或面对面扫你的码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594360" y="3456432"/>
            <a:ext cx="3657600" cy="512064"/>
          </a:xfrm>
          <a:prstGeom prst="roundRect">
            <a:avLst>
              <a:gd name="adj" fmla="val 10714"/>
            </a:avLst>
          </a:prstGeom>
          <a:solidFill>
            <a:srgbClr val="131C33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" y="3602736"/>
            <a:ext cx="219456" cy="457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3511296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· 自动绑定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22376" y="373075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注册成功就绑成你的下级，关系链记在系统里</a:t>
            </a:r>
            <a:endParaRPr lang="en-US" sz="760" dirty="0"/>
          </a:p>
        </p:txBody>
      </p:sp>
      <p:sp>
        <p:nvSpPr>
          <p:cNvPr id="23" name="Text 21"/>
          <p:cNvSpPr/>
          <p:nvPr/>
        </p:nvSpPr>
        <p:spPr>
          <a:xfrm>
            <a:off x="59436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820" dirty="0">
                <a:solidFill>
                  <a:srgbClr val="5B6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只认直推关系：你邀请 B，B 再邀请 C，C 跟你没关系，但 B 的所有消费你都有份。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4617720" y="1773936"/>
            <a:ext cx="4114800" cy="2468880"/>
          </a:xfrm>
          <a:prstGeom prst="roundRect">
            <a:avLst>
              <a:gd name="adj" fmla="val 2963"/>
            </a:avLst>
          </a:prstGeom>
          <a:solidFill>
            <a:srgbClr val="0E1526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201168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4617720" y="287121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下级的每一笔消费，你都拿两成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00600" y="3310128"/>
            <a:ext cx="3749040" cy="786384"/>
          </a:xfrm>
          <a:prstGeom prst="roundRect">
            <a:avLst>
              <a:gd name="adj" fmla="val 8140"/>
            </a:avLst>
          </a:prstGeom>
          <a:solidFill>
            <a:srgbClr val="131C33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38328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举个例：B 充了 100 块买会员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00600" y="363931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你直接拿 20 块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11480" y="4407408"/>
            <a:ext cx="8321040" cy="365760"/>
          </a:xfrm>
          <a:prstGeom prst="roundRect">
            <a:avLst>
              <a:gd name="adj" fmla="val 17500"/>
            </a:avLst>
          </a:prstGeom>
          <a:solidFill>
            <a:srgbClr val="131C33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4471416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没有邀请码就注册不了——这套模式搬去别处根本玩不转，只有在这里能落地赚钱。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412480" y="482803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274320"/>
            <a:ext cx="1828800" cy="118872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3383280"/>
            <a:ext cx="914400" cy="914400"/>
          </a:xfrm>
          <a:prstGeom prst="ellipse">
            <a:avLst/>
          </a:prstGeom>
          <a:solidFill>
            <a:srgbClr val="818CF8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310896"/>
            <a:ext cx="146304" cy="310896"/>
          </a:xfrm>
          <a:prstGeom prst="roundRect">
            <a:avLst>
              <a:gd name="adj" fmla="val 18750"/>
            </a:avLst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" y="274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分销体系 · 佣金升级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680960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i="1" spc="100" kern="0" dirty="0">
                <a:solidFill>
                  <a:srgbClr val="5B6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65836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拉满 5 人回本，从第 6 人起佣金升到 30%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335024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等级越拉越高，佣金越拉越多——每个月光靠返佣就够用了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773936"/>
            <a:ext cx="2633472" cy="1481328"/>
          </a:xfrm>
          <a:prstGeom prst="roundRect">
            <a:avLst>
              <a:gd name="adj" fmla="val 4938"/>
            </a:avLst>
          </a:prstGeom>
          <a:solidFill>
            <a:srgbClr val="0E1526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83664"/>
            <a:ext cx="2633472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11480" y="2432304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起步佣金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" y="2743200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6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下级每笔消费拿 20%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3026664" y="2322576"/>
            <a:ext cx="24688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55264" y="1773936"/>
            <a:ext cx="2633472" cy="1481328"/>
          </a:xfrm>
          <a:prstGeom prst="roundRect">
            <a:avLst>
              <a:gd name="adj" fmla="val 4938"/>
            </a:avLst>
          </a:prstGeom>
          <a:solidFill>
            <a:srgbClr val="0E1526"/>
          </a:solidFill>
          <a:ln w="15240">
            <a:solidFill>
              <a:srgbClr val="818C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55264" y="1883664"/>
            <a:ext cx="2633472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18C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拉满 5 人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255264" y="2432304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本钱回来了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64992" y="2743200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6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个下级 × 每人消费返 20%</a:t>
            </a:r>
            <a:endParaRPr lang="en-US" sz="76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6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之前花的会员钱基本赚回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5870448" y="2322576"/>
            <a:ext cx="246888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99048" y="1773936"/>
            <a:ext cx="2633472" cy="1481328"/>
          </a:xfrm>
          <a:prstGeom prst="roundRect">
            <a:avLst>
              <a:gd name="adj" fmla="val 4938"/>
            </a:avLst>
          </a:prstGeom>
          <a:solidFill>
            <a:srgbClr val="0E1526"/>
          </a:solidFill>
          <a:ln w="1524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99048" y="1883664"/>
            <a:ext cx="2633472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099048" y="2432304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永久升级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08776" y="2743200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6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个下级起，所有人消费</a:t>
            </a:r>
            <a:endParaRPr lang="en-US" sz="76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6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都按 30% 返给你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>
            <a:off x="411480" y="3401568"/>
            <a:ext cx="8321040" cy="548640"/>
          </a:xfrm>
          <a:prstGeom prst="roundRect">
            <a:avLst>
              <a:gd name="adj" fmla="val 13333"/>
            </a:avLst>
          </a:prstGeom>
          <a:solidFill>
            <a:srgbClr val="0E1526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474720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重点：前面那 5 个下级，也会跟着一起升级到 30%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94360" y="3730752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到这一步：每个月不仅不用花钱，还能净赚——两套高频复购分销体系同时在转。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411480" y="4096512"/>
            <a:ext cx="8321040" cy="566928"/>
          </a:xfrm>
          <a:prstGeom prst="roundRect">
            <a:avLst>
              <a:gd name="adj" fmla="val 11290"/>
            </a:avLst>
          </a:prstGeom>
          <a:solidFill>
            <a:srgbClr val="131C33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416966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佣金到账进余额，想怎么花都行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703320" y="4187952"/>
            <a:ext cx="2377440" cy="384048"/>
          </a:xfrm>
          <a:prstGeom prst="roundRect">
            <a:avLst>
              <a:gd name="adj" fmla="val 47619"/>
            </a:avLst>
          </a:prstGeom>
          <a:solidFill>
            <a:srgbClr val="0E1526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03320" y="42519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直接提现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90488" y="4187952"/>
            <a:ext cx="2377440" cy="384048"/>
          </a:xfrm>
          <a:prstGeom prst="roundRect">
            <a:avLst>
              <a:gd name="adj" fmla="val 47619"/>
            </a:avLst>
          </a:prstGeom>
          <a:solidFill>
            <a:srgbClr val="0E1526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0488" y="42519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留在余额买会员 / 续费 / 消费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412480" y="482803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274320"/>
            <a:ext cx="1828800" cy="118872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3383280"/>
            <a:ext cx="914400" cy="914400"/>
          </a:xfrm>
          <a:prstGeom prst="ellipse">
            <a:avLst/>
          </a:prstGeom>
          <a:solidFill>
            <a:srgbClr val="818CF8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310896"/>
            <a:ext cx="146304" cy="310896"/>
          </a:xfrm>
          <a:prstGeom prst="roundRect">
            <a:avLst>
              <a:gd name="adj" fmla="val 18750"/>
            </a:avLst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" y="274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 · 手机端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680960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i="1" spc="100" kern="0" dirty="0">
                <a:solidFill>
                  <a:srgbClr val="5B6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65836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手机端上线后：人在外面，电脑照样干活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335024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电脑不关机，随时随地都能让它干活，还能马上看到结果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773936"/>
            <a:ext cx="4069080" cy="1554480"/>
          </a:xfrm>
          <a:prstGeom prst="roundRect">
            <a:avLst>
              <a:gd name="adj" fmla="val 4706"/>
            </a:avLst>
          </a:prstGeom>
          <a:solidFill>
            <a:srgbClr val="0E1526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6072" y="1938528"/>
            <a:ext cx="402336" cy="402336"/>
          </a:xfrm>
          <a:prstGeom prst="ellipse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76072" y="1993392"/>
            <a:ext cx="402336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69848" y="195681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要电脑里的文件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487168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人在外面需要电脑上的某个文件：直接叫小钰从电脑上传到知识库，再发到你手机上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663440" y="1773936"/>
            <a:ext cx="4069080" cy="1554480"/>
          </a:xfrm>
          <a:prstGeom prst="roundRect">
            <a:avLst>
              <a:gd name="adj" fmla="val 4706"/>
            </a:avLst>
          </a:prstGeom>
          <a:solidFill>
            <a:srgbClr val="0E1526"/>
          </a:solidFill>
          <a:ln w="15240">
            <a:solidFill>
              <a:srgbClr val="818C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28032" y="1938528"/>
            <a:ext cx="402336" cy="402336"/>
          </a:xfrm>
          <a:prstGeom prst="ellipse">
            <a:avLst/>
          </a:prstGeom>
          <a:solidFill>
            <a:srgbClr val="818CF8">
              <a:alpha val="8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828032" y="1993392"/>
            <a:ext cx="402336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21808" y="195681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要电脑里的微信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487168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直接让它打开电脑上的微信，把文件发到你的「文件传输助手」，手机上就能用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411480" y="35478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一次典型的远程干活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11480" y="3877056"/>
            <a:ext cx="1920240" cy="475488"/>
          </a:xfrm>
          <a:prstGeom prst="roundRect">
            <a:avLst>
              <a:gd name="adj" fmla="val 13462"/>
            </a:avLst>
          </a:prstGeom>
          <a:solidFill>
            <a:srgbClr val="131C33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96849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EC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手机上说话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13432" y="39776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478024" y="3877056"/>
            <a:ext cx="1920240" cy="475488"/>
          </a:xfrm>
          <a:prstGeom prst="roundRect">
            <a:avLst>
              <a:gd name="adj" fmla="val 13462"/>
            </a:avLst>
          </a:prstGeom>
          <a:solidFill>
            <a:srgbClr val="131C33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78024" y="396849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EC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小钰在电脑上动手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379976" y="39776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44568" y="3877056"/>
            <a:ext cx="1920240" cy="475488"/>
          </a:xfrm>
          <a:prstGeom prst="roundRect">
            <a:avLst>
              <a:gd name="adj" fmla="val 13462"/>
            </a:avLst>
          </a:prstGeom>
          <a:solidFill>
            <a:srgbClr val="131C33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44568" y="396849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EC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结果发回手机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46520" y="39776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11112" y="3877056"/>
            <a:ext cx="1920240" cy="475488"/>
          </a:xfrm>
          <a:prstGeom prst="roundRect">
            <a:avLst>
              <a:gd name="adj" fmla="val 13462"/>
            </a:avLst>
          </a:prstGeom>
          <a:solidFill>
            <a:srgbClr val="131C33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11112" y="396849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EC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你确认收工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4480560"/>
            <a:ext cx="8321040" cy="329184"/>
          </a:xfrm>
          <a:prstGeom prst="roundRect">
            <a:avLst>
              <a:gd name="adj" fmla="val 16667"/>
            </a:avLst>
          </a:prstGeom>
          <a:solidFill>
            <a:srgbClr val="131C33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4544568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这是前期就规划好的节奏：先电脑端跑通，手机端随后上线。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412480" y="482803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274320"/>
            <a:ext cx="1828800" cy="118872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3383280"/>
            <a:ext cx="914400" cy="914400"/>
          </a:xfrm>
          <a:prstGeom prst="ellipse">
            <a:avLst/>
          </a:prstGeom>
          <a:solidFill>
            <a:srgbClr val="818CF8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310896"/>
            <a:ext cx="146304" cy="310896"/>
          </a:xfrm>
          <a:prstGeom prst="roundRect">
            <a:avLst>
              <a:gd name="adj" fmla="val 18750"/>
            </a:avLst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" y="274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 · 内容板块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680960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i="1" spc="100" kern="0" dirty="0">
                <a:solidFill>
                  <a:srgbClr val="5B6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65836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内容板块：钰字辈自己的「小红书」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335024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所有合伙人都能在上面发图文、上新品、展示自己——流量留在自己的池子里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773936"/>
            <a:ext cx="2633472" cy="1371600"/>
          </a:xfrm>
          <a:prstGeom prst="roundRect">
            <a:avLst>
              <a:gd name="adj" fmla="val 5333"/>
            </a:avLst>
          </a:prstGeom>
          <a:solidFill>
            <a:srgbClr val="0E1526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" y="1920240"/>
            <a:ext cx="27432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557784" y="1993392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发图文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7784" y="2322576"/>
            <a:ext cx="2340864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跟小红书图文差不多：发内容、攒粉丝、引流量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3255264" y="1773936"/>
            <a:ext cx="2633472" cy="1371600"/>
          </a:xfrm>
          <a:prstGeom prst="roundRect">
            <a:avLst>
              <a:gd name="adj" fmla="val 5333"/>
            </a:avLst>
          </a:prstGeom>
          <a:solidFill>
            <a:srgbClr val="0E1526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01568" y="1920240"/>
            <a:ext cx="274320" cy="457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5" name="Text 13"/>
          <p:cNvSpPr/>
          <p:nvPr/>
        </p:nvSpPr>
        <p:spPr>
          <a:xfrm>
            <a:off x="3401568" y="1993392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上新品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01568" y="2322576"/>
            <a:ext cx="2340864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自己的产品、服务直接在上面展示上新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6099048" y="1773936"/>
            <a:ext cx="2633472" cy="1371600"/>
          </a:xfrm>
          <a:prstGeom prst="roundRect">
            <a:avLst>
              <a:gd name="adj" fmla="val 5333"/>
            </a:avLst>
          </a:prstGeom>
          <a:solidFill>
            <a:srgbClr val="0E1526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45352" y="1920240"/>
            <a:ext cx="274320" cy="457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9" name="Text 17"/>
          <p:cNvSpPr/>
          <p:nvPr/>
        </p:nvSpPr>
        <p:spPr>
          <a:xfrm>
            <a:off x="6245352" y="1993392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展示自己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45352" y="2322576"/>
            <a:ext cx="2340864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合伙人个人展示页，本事、项目、作品都摆出来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411480" y="3346704"/>
            <a:ext cx="8321040" cy="1060704"/>
          </a:xfrm>
          <a:prstGeom prst="roundRect">
            <a:avLst>
              <a:gd name="adj" fmla="val 6897"/>
            </a:avLst>
          </a:prstGeom>
          <a:solidFill>
            <a:srgbClr val="0E1526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4564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为什么值得做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3767328"/>
            <a:ext cx="79552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流量不进别人的池子：合伙人的内容、新品、展示都在自己平台上，和分销、分身、生活服务互相导流——内容本身就是获客渠道。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94360" y="4224528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5B6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拓展性高，后面按实际情况定：方向先占住，玩法跟着生态长。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412480" y="482803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274320"/>
            <a:ext cx="1828800" cy="118872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3383280"/>
            <a:ext cx="914400" cy="914400"/>
          </a:xfrm>
          <a:prstGeom prst="ellipse">
            <a:avLst/>
          </a:prstGeom>
          <a:solidFill>
            <a:srgbClr val="818CF8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310896"/>
            <a:ext cx="146304" cy="310896"/>
          </a:xfrm>
          <a:prstGeom prst="roundRect">
            <a:avLst>
              <a:gd name="adj" fmla="val 18750"/>
            </a:avLst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" y="274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 · 生活服务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680960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i="1" spc="100" kern="0" dirty="0">
                <a:solidFill>
                  <a:srgbClr val="5B6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65836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接入生活服务：一句话点外卖、叫车、买东西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335024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把外面的服务接口拿进来，小钰帮你搞定生活里的琐事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719072"/>
            <a:ext cx="1609344" cy="274320"/>
          </a:xfrm>
          <a:prstGeom prst="roundRect">
            <a:avLst>
              <a:gd name="adj" fmla="val 50000"/>
            </a:avLst>
          </a:prstGeom>
          <a:solidFill>
            <a:srgbClr val="131C33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732788"/>
            <a:ext cx="1609344" cy="2468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C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滴滴 · 叫车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48840" y="1719072"/>
            <a:ext cx="1609344" cy="274320"/>
          </a:xfrm>
          <a:prstGeom prst="roundRect">
            <a:avLst>
              <a:gd name="adj" fmla="val 50000"/>
            </a:avLst>
          </a:prstGeom>
          <a:solidFill>
            <a:srgbClr val="131C33"/>
          </a:solidFill>
          <a:ln/>
        </p:spPr>
      </p:sp>
      <p:sp>
        <p:nvSpPr>
          <p:cNvPr id="12" name="Text 10"/>
          <p:cNvSpPr/>
          <p:nvPr/>
        </p:nvSpPr>
        <p:spPr>
          <a:xfrm>
            <a:off x="2148840" y="1732788"/>
            <a:ext cx="1609344" cy="2468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C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美团 · 外卖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86200" y="1719072"/>
            <a:ext cx="1609344" cy="274320"/>
          </a:xfrm>
          <a:prstGeom prst="roundRect">
            <a:avLst>
              <a:gd name="adj" fmla="val 50000"/>
            </a:avLst>
          </a:prstGeom>
          <a:solidFill>
            <a:srgbClr val="131C33"/>
          </a:solidFill>
          <a:ln/>
        </p:spPr>
      </p:sp>
      <p:sp>
        <p:nvSpPr>
          <p:cNvPr id="14" name="Text 12"/>
          <p:cNvSpPr/>
          <p:nvPr/>
        </p:nvSpPr>
        <p:spPr>
          <a:xfrm>
            <a:off x="3886200" y="1732788"/>
            <a:ext cx="1609344" cy="2468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C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高德 · 导航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23560" y="1719072"/>
            <a:ext cx="1609344" cy="274320"/>
          </a:xfrm>
          <a:prstGeom prst="roundRect">
            <a:avLst>
              <a:gd name="adj" fmla="val 50000"/>
            </a:avLst>
          </a:prstGeom>
          <a:solidFill>
            <a:srgbClr val="131C33"/>
          </a:solidFill>
          <a:ln/>
        </p:spPr>
      </p:sp>
      <p:sp>
        <p:nvSpPr>
          <p:cNvPr id="16" name="Text 14"/>
          <p:cNvSpPr/>
          <p:nvPr/>
        </p:nvSpPr>
        <p:spPr>
          <a:xfrm>
            <a:off x="5623560" y="1732788"/>
            <a:ext cx="1609344" cy="2468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C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电商 · 购物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60920" y="1719072"/>
            <a:ext cx="1609344" cy="274320"/>
          </a:xfrm>
          <a:prstGeom prst="roundRect">
            <a:avLst>
              <a:gd name="adj" fmla="val 50000"/>
            </a:avLst>
          </a:prstGeom>
          <a:solidFill>
            <a:srgbClr val="131C33"/>
          </a:solidFill>
          <a:ln/>
        </p:spPr>
      </p:sp>
      <p:sp>
        <p:nvSpPr>
          <p:cNvPr id="18" name="Text 16"/>
          <p:cNvSpPr/>
          <p:nvPr/>
        </p:nvSpPr>
        <p:spPr>
          <a:xfrm>
            <a:off x="7360920" y="1732788"/>
            <a:ext cx="1609344" cy="2468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C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 · 生活场景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2212848"/>
            <a:ext cx="8321040" cy="1828800"/>
          </a:xfrm>
          <a:prstGeom prst="roundRect">
            <a:avLst>
              <a:gd name="adj" fmla="val 4000"/>
            </a:avLst>
          </a:prstGeom>
          <a:solidFill>
            <a:srgbClr val="0E1526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3408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一个真实场景：晚上想吃火锅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94360" y="2743200"/>
            <a:ext cx="1828800" cy="1133856"/>
          </a:xfrm>
          <a:prstGeom prst="roundRect">
            <a:avLst>
              <a:gd name="adj" fmla="val 5645"/>
            </a:avLst>
          </a:prstGeom>
          <a:solidFill>
            <a:srgbClr val="131C33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2376" y="2871216"/>
            <a:ext cx="274320" cy="2743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" y="290779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2376" y="3200400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你跟小钰说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22376" y="3438144"/>
            <a:ext cx="157276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74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「想吃火锅」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606040" y="2743200"/>
            <a:ext cx="1828800" cy="1133856"/>
          </a:xfrm>
          <a:prstGeom prst="roundRect">
            <a:avLst>
              <a:gd name="adj" fmla="val 5645"/>
            </a:avLst>
          </a:prstGeom>
          <a:solidFill>
            <a:srgbClr val="131C33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34056" y="2871216"/>
            <a:ext cx="274320" cy="27432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28" name="Text 26"/>
          <p:cNvSpPr/>
          <p:nvPr/>
        </p:nvSpPr>
        <p:spPr>
          <a:xfrm>
            <a:off x="2734056" y="290779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34056" y="3200400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它刷美团接口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734056" y="3438144"/>
            <a:ext cx="157276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74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把最近好评最多、性价比最高的火锅店推给你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4617720" y="2743200"/>
            <a:ext cx="1828800" cy="1133856"/>
          </a:xfrm>
          <a:prstGeom prst="roundRect">
            <a:avLst>
              <a:gd name="adj" fmla="val 5645"/>
            </a:avLst>
          </a:prstGeom>
          <a:solidFill>
            <a:srgbClr val="131C33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2871216"/>
            <a:ext cx="274320" cy="27432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3" name="Text 31"/>
          <p:cNvSpPr/>
          <p:nvPr/>
        </p:nvSpPr>
        <p:spPr>
          <a:xfrm>
            <a:off x="4745736" y="290779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45736" y="3200400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它调高德接口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45736" y="3438144"/>
            <a:ext cx="157276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74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直接弹出路程导航，出门就走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6629400" y="2743200"/>
            <a:ext cx="1828800" cy="1133856"/>
          </a:xfrm>
          <a:prstGeom prst="roundRect">
            <a:avLst>
              <a:gd name="adj" fmla="val 5645"/>
            </a:avLst>
          </a:prstGeom>
          <a:solidFill>
            <a:srgbClr val="131C33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57416" y="2871216"/>
            <a:ext cx="274320" cy="27432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8" name="Text 36"/>
          <p:cNvSpPr/>
          <p:nvPr/>
        </p:nvSpPr>
        <p:spPr>
          <a:xfrm>
            <a:off x="6757416" y="290779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757416" y="3200400"/>
            <a:ext cx="1572768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全程一句话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757416" y="3438144"/>
            <a:ext cx="157276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74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点外卖、叫车、购物都是这个玩法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411480" y="4206240"/>
            <a:ext cx="8321040" cy="402336"/>
          </a:xfrm>
          <a:prstGeom prst="roundRect">
            <a:avLst>
              <a:gd name="adj" fmla="val 15909"/>
            </a:avLst>
          </a:prstGeom>
          <a:solidFill>
            <a:srgbClr val="131C33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427024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生活场景越接越多，入口就越收越窄——最后大家只认小钰这一个 AI 入口。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412480" y="482803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274320"/>
            <a:ext cx="1828800" cy="118872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3383280"/>
            <a:ext cx="914400" cy="914400"/>
          </a:xfrm>
          <a:prstGeom prst="ellipse">
            <a:avLst/>
          </a:prstGeom>
          <a:solidFill>
            <a:srgbClr val="818CF8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310896"/>
            <a:ext cx="146304" cy="310896"/>
          </a:xfrm>
          <a:prstGeom prst="roundRect">
            <a:avLst>
              <a:gd name="adj" fmla="val 18750"/>
            </a:avLst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" y="274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 · AI + 硬件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680960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i="1" spc="100" kern="0" dirty="0">
                <a:solidFill>
                  <a:srgbClr val="5B6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65836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+ 硬件：所有电子设备都会被重塑一遍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335024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手表、AI 空调、AI 热水器……衍生产品会越来越多，小钰全都能接入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773936"/>
            <a:ext cx="2633472" cy="1225296"/>
          </a:xfrm>
          <a:prstGeom prst="roundRect">
            <a:avLst>
              <a:gd name="adj" fmla="val 5970"/>
            </a:avLst>
          </a:prstGeom>
          <a:solidFill>
            <a:srgbClr val="0E1526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" y="1920240"/>
            <a:ext cx="27432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557784" y="1993392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手表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7784" y="2322576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健康、提醒、通话，都能语音控制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3255264" y="1773936"/>
            <a:ext cx="2633472" cy="1225296"/>
          </a:xfrm>
          <a:prstGeom prst="roundRect">
            <a:avLst>
              <a:gd name="adj" fmla="val 5970"/>
            </a:avLst>
          </a:prstGeom>
          <a:solidFill>
            <a:srgbClr val="0E1526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01568" y="1920240"/>
            <a:ext cx="274320" cy="457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5" name="Text 13"/>
          <p:cNvSpPr/>
          <p:nvPr/>
        </p:nvSpPr>
        <p:spPr>
          <a:xfrm>
            <a:off x="3401568" y="1993392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空调 / 热水器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01568" y="2322576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一句话调温度，到家前自动备好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6099048" y="1773936"/>
            <a:ext cx="2633472" cy="1225296"/>
          </a:xfrm>
          <a:prstGeom prst="roundRect">
            <a:avLst>
              <a:gd name="adj" fmla="val 5970"/>
            </a:avLst>
          </a:prstGeom>
          <a:solidFill>
            <a:srgbClr val="0E1526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45352" y="1920240"/>
            <a:ext cx="274320" cy="457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9" name="Text 17"/>
          <p:cNvSpPr/>
          <p:nvPr/>
        </p:nvSpPr>
        <p:spPr>
          <a:xfrm>
            <a:off x="6245352" y="1993392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更多智能设备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45352" y="2322576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82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电饭煲、窗帘、风扇……全屋智能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411480" y="3145536"/>
            <a:ext cx="8321040" cy="859536"/>
          </a:xfrm>
          <a:prstGeom prst="roundRect">
            <a:avLst>
              <a:gd name="adj" fmla="val 8511"/>
            </a:avLst>
          </a:prstGeom>
          <a:solidFill>
            <a:srgbClr val="0E1526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23697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想象一下：快到家了，跟小钰说一声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94360" y="3529584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热水壶放水烧你喜欢的 55 度温水 · 空调调成你常用的温度 · 窗帘自己拉开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4151376"/>
            <a:ext cx="8321040" cy="548640"/>
          </a:xfrm>
          <a:prstGeom prst="roundRect">
            <a:avLst>
              <a:gd name="adj" fmla="val 11667"/>
            </a:avLst>
          </a:prstGeom>
          <a:solidFill>
            <a:srgbClr val="131C33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261104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小企业的硬件供应商，都能拉进来当合伙人，成为供应链矩阵的一环——上下配套，生态闭环。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12480" y="482803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274320"/>
            <a:ext cx="1828800" cy="118872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3383280"/>
            <a:ext cx="914400" cy="914400"/>
          </a:xfrm>
          <a:prstGeom prst="ellipse">
            <a:avLst/>
          </a:prstGeom>
          <a:solidFill>
            <a:srgbClr val="818CF8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310896"/>
            <a:ext cx="146304" cy="310896"/>
          </a:xfrm>
          <a:prstGeom prst="roundRect">
            <a:avLst>
              <a:gd name="adj" fmla="val 18750"/>
            </a:avLst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" y="274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生态闭环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680960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i="1" spc="100" kern="0" dirty="0">
                <a:solidFill>
                  <a:srgbClr val="5B6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65836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上下两条生态链合围：谁也撼动不了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335024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 AI 生态 + 线下供应链矩阵，配套起来才是真正的壁垒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773936"/>
            <a:ext cx="8321040" cy="1042416"/>
          </a:xfrm>
          <a:prstGeom prst="roundRect">
            <a:avLst>
              <a:gd name="adj" fmla="val 7018"/>
            </a:avLst>
          </a:prstGeom>
          <a:solidFill>
            <a:srgbClr val="0E1526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653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 · AI 智能生态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2212848"/>
            <a:ext cx="795528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小钰 AI 助理 · 合伙人分身 · 内容板块 · 生活服务 · 分销体系——入口、能力、流量、变现全在一条线上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43400" y="28163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⇅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1480" y="3200400"/>
            <a:ext cx="8321040" cy="1042416"/>
          </a:xfrm>
          <a:prstGeom prst="roundRect">
            <a:avLst>
              <a:gd name="adj" fmla="val 7018"/>
            </a:avLst>
          </a:prstGeom>
          <a:solidFill>
            <a:srgbClr val="0E1526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291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 · 供应链矩阵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4360" y="3639312"/>
            <a:ext cx="7955280" cy="4937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合伙人体系 · 供应链矩阵 · 硬件供应商——已经跑起来的线下底盘，短期谁都追不上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4389120"/>
            <a:ext cx="8321040" cy="402336"/>
          </a:xfrm>
          <a:prstGeom prst="roundRect">
            <a:avLst>
              <a:gd name="adj" fmla="val 15909"/>
            </a:avLst>
          </a:prstGeom>
          <a:solidFill>
            <a:srgbClr val="131C33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45312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线下的空间、模式、名字都可以抄，唯独供应链矩阵、合伙人的数字资产、已积累的用户生态，抄不走。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12480" y="482803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274320"/>
            <a:ext cx="1828800" cy="118872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3383280"/>
            <a:ext cx="914400" cy="914400"/>
          </a:xfrm>
          <a:prstGeom prst="ellipse">
            <a:avLst/>
          </a:prstGeom>
          <a:solidFill>
            <a:srgbClr val="818CF8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310896"/>
            <a:ext cx="146304" cy="310896"/>
          </a:xfrm>
          <a:prstGeom prst="roundRect">
            <a:avLst>
              <a:gd name="adj" fmla="val 18750"/>
            </a:avLst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" y="274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未来愿景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680960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i="1" spc="100" kern="0" dirty="0">
                <a:solidFill>
                  <a:srgbClr val="5B6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65836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最后：小钰，就是全国的流量入口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335024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入口的定义权，就是流量的话语权——谁握着入口，谁大口吃肉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773936"/>
            <a:ext cx="2633472" cy="1737360"/>
          </a:xfrm>
          <a:prstGeom prst="roundRect">
            <a:avLst>
              <a:gd name="adj" fmla="val 4211"/>
            </a:avLst>
          </a:prstGeom>
          <a:solidFill>
            <a:srgbClr val="0E1526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" y="1920240"/>
            <a:ext cx="310896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557784" y="2029968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 会死一批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57784" y="2542032"/>
            <a:ext cx="2340864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那些不开放接口给 AI 流量入口的软件，未来会被干干净净地淘汰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3255264" y="1773936"/>
            <a:ext cx="2633472" cy="1737360"/>
          </a:xfrm>
          <a:prstGeom prst="roundRect">
            <a:avLst>
              <a:gd name="adj" fmla="val 4211"/>
            </a:avLst>
          </a:prstGeom>
          <a:solidFill>
            <a:srgbClr val="0E1526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01568" y="1920240"/>
            <a:ext cx="310896" cy="54864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5" name="Text 13"/>
          <p:cNvSpPr/>
          <p:nvPr/>
        </p:nvSpPr>
        <p:spPr>
          <a:xfrm>
            <a:off x="3401568" y="2029968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入口越来越窄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401568" y="2542032"/>
            <a:ext cx="2340864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大家不再需要一堆花花绿绿的 App，一个 AI 入口就搞定所有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6099048" y="1773936"/>
            <a:ext cx="2633472" cy="1737360"/>
          </a:xfrm>
          <a:prstGeom prst="roundRect">
            <a:avLst>
              <a:gd name="adj" fmla="val 4211"/>
            </a:avLst>
          </a:prstGeom>
          <a:solidFill>
            <a:srgbClr val="0E1526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45352" y="1920240"/>
            <a:ext cx="310896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9" name="Text 17"/>
          <p:cNvSpPr/>
          <p:nvPr/>
        </p:nvSpPr>
        <p:spPr>
          <a:xfrm>
            <a:off x="6245352" y="2029968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谁有入口谁吃肉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45352" y="2542032"/>
            <a:ext cx="2340864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从以前到现在都是这个逻辑：谁掌握了流量入口，谁就大口吃肉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11480" y="3712464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0E1526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803904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当上下两条生态链都跑起来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4096512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小钰 = 钰字辈唯一的流量入口 = 所有合伙人的数字载体 = 万物智联时代的入口定义者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94360" y="4370832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到了那一步，谁想动我们，先掂量掂量——腾讯下场，都不一定行。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412480" y="482803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86600" y="274320"/>
            <a:ext cx="1828800" cy="118872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3383280"/>
            <a:ext cx="914400" cy="914400"/>
          </a:xfrm>
          <a:prstGeom prst="ellipse">
            <a:avLst/>
          </a:prstGeom>
          <a:solidFill>
            <a:srgbClr val="818CF8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310896"/>
            <a:ext cx="146304" cy="310896"/>
          </a:xfrm>
          <a:prstGeom prst="roundRect">
            <a:avLst>
              <a:gd name="adj" fmla="val 18750"/>
            </a:avLst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" y="274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聚焦与计划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680960" y="256032"/>
            <a:ext cx="10515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i="1" spc="100" kern="0" dirty="0">
                <a:solidFill>
                  <a:srgbClr val="5B6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65836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路是慢慢走的：聚焦最有价值的事，边走边完善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1773936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0E1526"/>
          </a:solidFill>
          <a:ln w="12700">
            <a:solidFill>
              <a:srgbClr val="1E2A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01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怎么做减法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2249424"/>
            <a:ext cx="3657600" cy="512064"/>
          </a:xfrm>
          <a:prstGeom prst="roundRect">
            <a:avLst>
              <a:gd name="adj" fmla="val 10714"/>
            </a:avLst>
          </a:prstGeom>
          <a:solidFill>
            <a:srgbClr val="131C33"/>
          </a:solidFill>
          <a:ln/>
        </p:spPr>
      </p:sp>
      <p:sp>
        <p:nvSpPr>
          <p:cNvPr id="11" name="Shape 9"/>
          <p:cNvSpPr/>
          <p:nvPr/>
        </p:nvSpPr>
        <p:spPr>
          <a:xfrm>
            <a:off x="722376" y="2395728"/>
            <a:ext cx="219456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722376" y="230428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系统里杂事不少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22376" y="252374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系统里已有几十个小板块，不可能都亲力亲为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594360" y="2852928"/>
            <a:ext cx="3657600" cy="512064"/>
          </a:xfrm>
          <a:prstGeom prst="roundRect">
            <a:avLst>
              <a:gd name="adj" fmla="val 10714"/>
            </a:avLst>
          </a:prstGeom>
          <a:solidFill>
            <a:srgbClr val="131C33"/>
          </a:solidFill>
          <a:ln/>
        </p:spPr>
      </p:sp>
      <p:sp>
        <p:nvSpPr>
          <p:cNvPr id="15" name="Shape 13"/>
          <p:cNvSpPr/>
          <p:nvPr/>
        </p:nvSpPr>
        <p:spPr>
          <a:xfrm>
            <a:off x="722376" y="2999232"/>
            <a:ext cx="219456" cy="457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" y="2907792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能交就交出去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22376" y="312724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简单的事，找人教会了交接出去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594360" y="3456432"/>
            <a:ext cx="3657600" cy="512064"/>
          </a:xfrm>
          <a:prstGeom prst="roundRect">
            <a:avLst>
              <a:gd name="adj" fmla="val 10714"/>
            </a:avLst>
          </a:prstGeom>
          <a:solidFill>
            <a:srgbClr val="131C33"/>
          </a:solidFill>
          <a:ln/>
        </p:spPr>
      </p:sp>
      <p:sp>
        <p:nvSpPr>
          <p:cNvPr id="19" name="Shape 17"/>
          <p:cNvSpPr/>
          <p:nvPr/>
        </p:nvSpPr>
        <p:spPr>
          <a:xfrm>
            <a:off x="722376" y="3602736"/>
            <a:ext cx="219456" cy="457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" y="3511296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只留最核心的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22376" y="373075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未来只保留私域直播板块，其余逐步放掉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4617720" y="1773936"/>
            <a:ext cx="4114800" cy="2377440"/>
          </a:xfrm>
          <a:prstGeom prst="roundRect">
            <a:avLst>
              <a:gd name="adj" fmla="val 3077"/>
            </a:avLst>
          </a:prstGeom>
          <a:solidFill>
            <a:srgbClr val="0E1526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901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私域直播 × 小钰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800600" y="2231136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私域直播是钰字辈线下的生态，小钰是线上的入口——两者一定会联动，方案已经在想：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00600" y="2953512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/>
          <p:nvPr/>
        </p:nvSpPr>
        <p:spPr>
          <a:xfrm>
            <a:off x="5001768" y="287121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6EC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直播前的准备：素材、文案、海报，小钰一键备好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4800600" y="3355848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8" name="Text 26"/>
          <p:cNvSpPr/>
          <p:nvPr/>
        </p:nvSpPr>
        <p:spPr>
          <a:xfrm>
            <a:off x="5001768" y="32735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6EC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直播中的互动：弹幕、答疑、下单，小钰在边上帮手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4800600" y="3758184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0" name="Text 28"/>
          <p:cNvSpPr/>
          <p:nvPr/>
        </p:nvSpPr>
        <p:spPr>
          <a:xfrm>
            <a:off x="5001768" y="36758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6EC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直播后的跟进：总结、回放、客户回访，小钰自动办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411480" y="4315968"/>
            <a:ext cx="8321040" cy="402336"/>
          </a:xfrm>
          <a:prstGeom prst="roundRect">
            <a:avLst>
              <a:gd name="adj" fmla="val 15909"/>
            </a:avLst>
          </a:prstGeom>
          <a:solidFill>
            <a:srgbClr val="131C33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379976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这是我们自己的东西：想改什么，开会投票通过，就能直接动——边做边补短板。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412480" y="482803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0" y="182880"/>
            <a:ext cx="2834640" cy="2834640"/>
          </a:xfrm>
          <a:prstGeom prst="ellipse">
            <a:avLst/>
          </a:prstGeom>
          <a:solidFill>
            <a:srgbClr val="22D3EE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" y="3566160"/>
            <a:ext cx="1463040" cy="1463040"/>
          </a:xfrm>
          <a:prstGeom prst="ellipse">
            <a:avLst/>
          </a:prstGeom>
          <a:solidFill>
            <a:srgbClr val="818CF8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spc="500" kern="0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6EC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小钰 · 面向合伙人的线上生态赋能系统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401568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AA7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万物智联的入口，合伙人的数字资产，钰字辈的线上壁垒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4114800"/>
            <a:ext cx="7315200" cy="10973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206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钰心AI ·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钰心AI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钰心AI 招商融资方案</dc:title>
  <dc:subject>设备级 Agent + 合伙人共创生态平台</dc:subject>
  <dc:creator>钰心AI 团队</dc:creator>
  <cp:lastModifiedBy>钰心AI 团队</cp:lastModifiedBy>
  <cp:revision>1</cp:revision>
  <dcterms:created xsi:type="dcterms:W3CDTF">2026-09-08T21:48:06Z</dcterms:created>
  <dcterms:modified xsi:type="dcterms:W3CDTF">2026-09-08T21:48:06Z</dcterms:modified>
</cp:coreProperties>
</file>